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07a5fbb67e4132" /><Relationship Type="http://schemas.openxmlformats.org/officeDocument/2006/relationships/extended-properties" Target="/docProps/app.xml" Id="R36cb60d3f1c241e0" /><Relationship Type="http://schemas.openxmlformats.org/officeDocument/2006/relationships/officeDocument" Target="/ppt/presentation.xml" Id="Re2930f1eca2f40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024642900a49fe"/>
  </p:sldMasterIdLst>
  <p:notesMasterIdLst>
    <p:notesMasterId xmlns:r="http://schemas.openxmlformats.org/officeDocument/2006/relationships" r:id="R91fb08a5871d428c"/>
  </p:notesMasterIdLst>
  <p:sldIdLst>
    <p:sldId xmlns:r="http://schemas.openxmlformats.org/officeDocument/2006/relationships" id="256" r:id="R37858685528248c7"/>
    <p:sldId xmlns:r="http://schemas.openxmlformats.org/officeDocument/2006/relationships" id="257" r:id="R5e911059cd484eac"/>
    <p:sldId xmlns:r="http://schemas.openxmlformats.org/officeDocument/2006/relationships" id="258" r:id="Rcc742677adf3401c"/>
    <p:sldId xmlns:r="http://schemas.openxmlformats.org/officeDocument/2006/relationships" id="259" r:id="Rcf8f7b615b0242b0"/>
    <p:sldId xmlns:r="http://schemas.openxmlformats.org/officeDocument/2006/relationships" id="260" r:id="R14676f0ee7424de2"/>
    <p:sldId xmlns:r="http://schemas.openxmlformats.org/officeDocument/2006/relationships" id="261" r:id="Rc2e88acf09214723"/>
    <p:sldId xmlns:r="http://schemas.openxmlformats.org/officeDocument/2006/relationships" id="262" r:id="R61ab163fa9454f0d"/>
    <p:sldId xmlns:r="http://schemas.openxmlformats.org/officeDocument/2006/relationships" id="263" r:id="Rd05b61ee924a44b8"/>
    <p:sldId xmlns:r="http://schemas.openxmlformats.org/officeDocument/2006/relationships" id="264" r:id="R58589f4eddb24b75"/>
    <p:sldId xmlns:r="http://schemas.openxmlformats.org/officeDocument/2006/relationships" id="265" r:id="R5df71c381336497d"/>
    <p:sldId xmlns:r="http://schemas.openxmlformats.org/officeDocument/2006/relationships" id="266" r:id="R8413a3fed9ff4cd2"/>
    <p:sldId xmlns:r="http://schemas.openxmlformats.org/officeDocument/2006/relationships" id="267" r:id="R08b33f9cb1144cb2"/>
    <p:sldId xmlns:r="http://schemas.openxmlformats.org/officeDocument/2006/relationships" id="268" r:id="Rda67d2f433ce4cfd"/>
    <p:sldId xmlns:r="http://schemas.openxmlformats.org/officeDocument/2006/relationships" id="269" r:id="R104cc9019e834f5d"/>
    <p:sldId xmlns:r="http://schemas.openxmlformats.org/officeDocument/2006/relationships" id="270" r:id="R4d29847b565649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903cf3562043a7" /><Relationship Type="http://schemas.openxmlformats.org/officeDocument/2006/relationships/slideMaster" Target="/ppt/slideMasters/slideMaster1.xml" Id="R69024642900a49fe" /><Relationship Type="http://schemas.openxmlformats.org/officeDocument/2006/relationships/notesMaster" Target="/ppt/notesMasters/notesMaster1.xml" Id="R91fb08a5871d428c" /><Relationship Type="http://schemas.openxmlformats.org/officeDocument/2006/relationships/presProps" Target="/ppt/presProps.xml" Id="Re619b5cde2f748d4" /><Relationship Type="http://schemas.openxmlformats.org/officeDocument/2006/relationships/tableStyles" Target="/ppt/tableStyles.xml" Id="R65d29f5620bf451e" /><Relationship Type="http://schemas.openxmlformats.org/officeDocument/2006/relationships/slide" Target="/ppt/slides/slide1.xml" Id="R37858685528248c7" /><Relationship Type="http://schemas.openxmlformats.org/officeDocument/2006/relationships/slide" Target="/ppt/slides/slide2.xml" Id="R5e911059cd484eac" /><Relationship Type="http://schemas.openxmlformats.org/officeDocument/2006/relationships/slide" Target="/ppt/slides/slide3.xml" Id="Rcc742677adf3401c" /><Relationship Type="http://schemas.openxmlformats.org/officeDocument/2006/relationships/slide" Target="/ppt/slides/slide4.xml" Id="Rcf8f7b615b0242b0" /><Relationship Type="http://schemas.openxmlformats.org/officeDocument/2006/relationships/slide" Target="/ppt/slides/slide5.xml" Id="R14676f0ee7424de2" /><Relationship Type="http://schemas.openxmlformats.org/officeDocument/2006/relationships/slide" Target="/ppt/slides/slide6.xml" Id="Rc2e88acf09214723" /><Relationship Type="http://schemas.openxmlformats.org/officeDocument/2006/relationships/slide" Target="/ppt/slides/slide7.xml" Id="R61ab163fa9454f0d" /><Relationship Type="http://schemas.openxmlformats.org/officeDocument/2006/relationships/slide" Target="/ppt/slides/slide8.xml" Id="Rd05b61ee924a44b8" /><Relationship Type="http://schemas.openxmlformats.org/officeDocument/2006/relationships/slide" Target="/ppt/slides/slide9.xml" Id="R58589f4eddb24b75" /><Relationship Type="http://schemas.openxmlformats.org/officeDocument/2006/relationships/slide" Target="/ppt/slides/slide10.xml" Id="R5df71c381336497d" /><Relationship Type="http://schemas.openxmlformats.org/officeDocument/2006/relationships/slide" Target="/ppt/slides/slide11.xml" Id="R8413a3fed9ff4cd2" /><Relationship Type="http://schemas.openxmlformats.org/officeDocument/2006/relationships/slide" Target="/ppt/slides/slide12.xml" Id="R08b33f9cb1144cb2" /><Relationship Type="http://schemas.openxmlformats.org/officeDocument/2006/relationships/slide" Target="/ppt/slides/slide13.xml" Id="Rda67d2f433ce4cfd" /><Relationship Type="http://schemas.openxmlformats.org/officeDocument/2006/relationships/slide" Target="/ppt/slides/slide14.xml" Id="R104cc9019e834f5d" /><Relationship Type="http://schemas.openxmlformats.org/officeDocument/2006/relationships/slide" Target="/ppt/slides/slide15.xml" Id="R4d29847b565649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c8b8d835a149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fca06a1f534186" /><Relationship Type="http://schemas.openxmlformats.org/officeDocument/2006/relationships/notesMaster" Target="/ppt/notesMasters/notesMaster1.xml" Id="R5946c61cc75342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eada2053664eb5" /><Relationship Type="http://schemas.openxmlformats.org/officeDocument/2006/relationships/notesMaster" Target="/ppt/notesMasters/notesMaster1.xml" Id="R813397382ff047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34e59f13c54e5b" /><Relationship Type="http://schemas.openxmlformats.org/officeDocument/2006/relationships/notesMaster" Target="/ppt/notesMasters/notesMaster1.xml" Id="R81cb521ac41248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fe0656a7d94a3e" /><Relationship Type="http://schemas.openxmlformats.org/officeDocument/2006/relationships/notesMaster" Target="/ppt/notesMasters/notesMaster1.xml" Id="R468d584cda6442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51e85473674ce6" /><Relationship Type="http://schemas.openxmlformats.org/officeDocument/2006/relationships/notesMaster" Target="/ppt/notesMasters/notesMaster1.xml" Id="Rb2305ca860104f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ceeca17b7749b6" /><Relationship Type="http://schemas.openxmlformats.org/officeDocument/2006/relationships/notesMaster" Target="/ppt/notesMasters/notesMaster1.xml" Id="Ref29f9d6aaab4a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a58a854b9e4d97" /><Relationship Type="http://schemas.openxmlformats.org/officeDocument/2006/relationships/notesMaster" Target="/ppt/notesMasters/notesMaster1.xml" Id="Rf4368a2f374944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74aeb6c31d4f1e" /><Relationship Type="http://schemas.openxmlformats.org/officeDocument/2006/relationships/notesMaster" Target="/ppt/notesMasters/notesMaster1.xml" Id="R9b6a54d0355b4b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6f0ec13f014295" /><Relationship Type="http://schemas.openxmlformats.org/officeDocument/2006/relationships/notesMaster" Target="/ppt/notesMasters/notesMaster1.xml" Id="Rdb3f8e062cec48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8bba36b1544f75" /><Relationship Type="http://schemas.openxmlformats.org/officeDocument/2006/relationships/notesMaster" Target="/ppt/notesMasters/notesMaster1.xml" Id="R8b36ef74a57740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ac49834c954ec2" /><Relationship Type="http://schemas.openxmlformats.org/officeDocument/2006/relationships/notesMaster" Target="/ppt/notesMasters/notesMaster1.xml" Id="Rde90d531082845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a53caff6d143a7" /><Relationship Type="http://schemas.openxmlformats.org/officeDocument/2006/relationships/notesMaster" Target="/ppt/notesMasters/notesMaster1.xml" Id="R09aeb57429c24a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707d0e5ee64f7d" /><Relationship Type="http://schemas.openxmlformats.org/officeDocument/2006/relationships/notesMaster" Target="/ppt/notesMasters/notesMaster1.xml" Id="R52a6d44deaa343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0e42fc5be94706" /><Relationship Type="http://schemas.openxmlformats.org/officeDocument/2006/relationships/notesMaster" Target="/ppt/notesMasters/notesMaster1.xml" Id="R3097f4adef8343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3c5553116d4c75" /><Relationship Type="http://schemas.openxmlformats.org/officeDocument/2006/relationships/notesMaster" Target="/ppt/notesMasters/notesMaster1.xml" Id="Rec045883f9394e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761eb579d549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bf59ffa48e413c" /><Relationship Type="http://schemas.openxmlformats.org/officeDocument/2006/relationships/slideLayout" Target="/ppt/slideLayouts/slideLayout1.xml" Id="Re8090639b9504c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090639b9504c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01a28d32d42ff" /><Relationship Type="http://schemas.openxmlformats.org/officeDocument/2006/relationships/notesSlide" Target="/ppt/notesSlides/notesSlide1.xml" Id="R016f162d6f534f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4717b5ca9403f" /><Relationship Type="http://schemas.openxmlformats.org/officeDocument/2006/relationships/notesSlide" Target="/ppt/notesSlides/notesSlide2.xml" Id="R0fc2fc4b059a44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e73fe58a04da6" /><Relationship Type="http://schemas.openxmlformats.org/officeDocument/2006/relationships/notesSlide" Target="/ppt/notesSlides/notesSlide3.xml" Id="R257ecb7b494b47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2d4ce1b10421d" /><Relationship Type="http://schemas.openxmlformats.org/officeDocument/2006/relationships/notesSlide" Target="/ppt/notesSlides/notesSlide4.xml" Id="R01e7a5453bbf49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203aa37714ba0" /><Relationship Type="http://schemas.openxmlformats.org/officeDocument/2006/relationships/notesSlide" Target="/ppt/notesSlides/notesSlide5.xml" Id="R5869ed4449e348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75c311b8f4874" /><Relationship Type="http://schemas.openxmlformats.org/officeDocument/2006/relationships/image" Target="/ppt/media/image.png" Id="Rdde27435ccf84d50" /><Relationship Type="http://schemas.openxmlformats.org/officeDocument/2006/relationships/notesSlide" Target="/ppt/notesSlides/notesSlide6.xml" Id="R21152a75afd343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0c0c5df654906" /><Relationship Type="http://schemas.openxmlformats.org/officeDocument/2006/relationships/image" Target="/ppt/media/image2.png" Id="Rd84048a8c6db49d5" /><Relationship Type="http://schemas.openxmlformats.org/officeDocument/2006/relationships/notesSlide" Target="/ppt/notesSlides/notesSlide7.xml" Id="Rc17527b7621242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af95fb7074206" /><Relationship Type="http://schemas.openxmlformats.org/officeDocument/2006/relationships/image" Target="/ppt/media/image3.png" Id="Rb2fd6422e0664b4c" /><Relationship Type="http://schemas.openxmlformats.org/officeDocument/2006/relationships/notesSlide" Target="/ppt/notesSlides/notesSlide8.xml" Id="Re511f1ec0d7c4f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317f1acc1489f" /><Relationship Type="http://schemas.openxmlformats.org/officeDocument/2006/relationships/notesSlide" Target="/ppt/notesSlides/notesSlide9.xml" Id="R3dc94ff7cbb54a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4ecad1a0c459f" /><Relationship Type="http://schemas.openxmlformats.org/officeDocument/2006/relationships/image" Target="/ppt/media/image4.png" Id="Rf52427672d6e4662" /><Relationship Type="http://schemas.openxmlformats.org/officeDocument/2006/relationships/notesSlide" Target="/ppt/notesSlides/notesSlide10.xml" Id="Rb1766495f32040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bb26d09fe4661" /><Relationship Type="http://schemas.openxmlformats.org/officeDocument/2006/relationships/image" Target="/ppt/media/image5.png" Id="R19a0c7218e394e7e" /><Relationship Type="http://schemas.openxmlformats.org/officeDocument/2006/relationships/notesSlide" Target="/ppt/notesSlides/notesSlide11.xml" Id="R1b0f05bbf95b4f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4504565844f14" /><Relationship Type="http://schemas.openxmlformats.org/officeDocument/2006/relationships/image" Target="/ppt/media/image6.png" Id="R4e1b0d455db04dce" /><Relationship Type="http://schemas.openxmlformats.org/officeDocument/2006/relationships/notesSlide" Target="/ppt/notesSlides/notesSlide12.xml" Id="R776115e40b734e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4c620456141d6" /><Relationship Type="http://schemas.openxmlformats.org/officeDocument/2006/relationships/notesSlide" Target="/ppt/notesSlides/notesSlide13.xml" Id="R4a4999ab45084f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51b16dc80477b" /><Relationship Type="http://schemas.openxmlformats.org/officeDocument/2006/relationships/notesSlide" Target="/ppt/notesSlides/notesSlide14.xml" Id="R0190dee2798548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0670ce7d8428b" /><Relationship Type="http://schemas.openxmlformats.org/officeDocument/2006/relationships/notesSlide" Target="/ppt/notesSlides/notesSlide15.xml" Id="R211aa1e623e34d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D274CC-651B-456D-AC95-6E215BBD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91713"/>
                </a:solidFill>
              </a:defRPr>
            </a:pPr>
            <a:r>
              <a:rPr sz="4350" b="1">
                <a:solidFill>
                  <a:srgbClr val="191713"/>
                </a:solidFill>
              </a:rPr>
              <a:t>Carbon Program</a:t>
            </a:r>
          </a:p>
          <a:p xmlns:a="http://schemas.openxmlformats.org/drawingml/2006/main">
            <a:pPr>
              <a:defRPr sz="4350" b="1">
                <a:solidFill>
                  <a:srgbClr val="191713"/>
                </a:solidFill>
              </a:defRPr>
            </a:pPr>
            <a:r>
              <a:rPr sz="4350" b="1">
                <a:solidFill>
                  <a:srgbClr val="191713"/>
                </a:solidFill>
              </a:rPr>
              <a:t>Service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5DDC8-9914-44F9-BC65-DABFA720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609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56F64"/>
                </a:solidFill>
              </a:defRPr>
            </a:pPr>
            <a:r>
              <a:rPr sz="1800" b="0">
                <a:solidFill>
                  <a:srgbClr val="756F64"/>
                </a:solidFill>
              </a:rPr>
              <a:t>Mapping a multi-year enterprise service across growers, dealers, field teams, operations, finance, and digital platforms.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65D8F-DB2D-42D3-B101-5C7BB031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4350"/>
            <a:ext cx="43434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B4E51-7ECB-48D4-94EE-1A91B6C7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47750"/>
            <a:ext cx="1485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4D4"/>
          </a:solidFill>
          <a:ln xmlns:a="http://schemas.openxmlformats.org/drawingml/2006/main" w="9525">
            <a:solidFill>
              <a:srgbClr val="A64F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745F5-E004-469B-80BC-D148549F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382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64F2B"/>
                </a:solidFill>
              </a:defRPr>
            </a:pPr>
            <a:r>
              <a:rPr sz="1350" b="1">
                <a:solidFill>
                  <a:srgbClr val="A64F2B"/>
                </a:solidFill>
              </a:rPr>
              <a:t>Grower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3BE00-7A00-4907-8611-FFBD03ED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047750"/>
            <a:ext cx="1485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DCBE1-FF43-4481-BE4F-B228D133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2382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1713"/>
                </a:solidFill>
              </a:defRPr>
            </a:pPr>
            <a:r>
              <a:rPr sz="1350" b="1">
                <a:solidFill>
                  <a:srgbClr val="191713"/>
                </a:solidFill>
              </a:rPr>
              <a:t>Dealer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481A5-9846-40C4-B362-EE01EFFF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1485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F5FA9-45A8-44D7-A7B0-07B9433E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1713"/>
                </a:solidFill>
              </a:defRPr>
            </a:pPr>
            <a:r>
              <a:rPr sz="1350" b="1">
                <a:solidFill>
                  <a:srgbClr val="191713"/>
                </a:solidFill>
              </a:rPr>
              <a:t>Field team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28F5C-7C74-454A-AC4A-EE81B0D7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71700"/>
            <a:ext cx="1485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D89F7-EB69-4896-848F-6F9D5590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622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1713"/>
                </a:solidFill>
              </a:defRPr>
            </a:pPr>
            <a:r>
              <a:rPr sz="1350" b="1">
                <a:solidFill>
                  <a:srgbClr val="191713"/>
                </a:solidFill>
              </a:rPr>
              <a:t>Operations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A74BC-6C16-42F5-BD0F-B70CFDE0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95650"/>
            <a:ext cx="1485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81A05-E9D5-4F0C-A15C-63D9EBB3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1713"/>
                </a:solidFill>
              </a:defRPr>
            </a:pPr>
            <a:r>
              <a:rPr sz="1350" b="1">
                <a:solidFill>
                  <a:srgbClr val="191713"/>
                </a:solidFill>
              </a:rPr>
              <a:t>Finance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C5233-04B7-4833-A973-3ABAE691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95650"/>
            <a:ext cx="1485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19B92-DA93-4C00-BA51-B573B687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861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1713"/>
                </a:solidFill>
              </a:defRPr>
            </a:pPr>
            <a:r>
              <a:rPr sz="1350" b="1">
                <a:solidFill>
                  <a:srgbClr val="191713"/>
                </a:solidFill>
              </a:rPr>
              <a:t>Digital systems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D54C1-E6B1-4BAF-AF69-EBD28062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1713"/>
                </a:solidFill>
              </a:defRPr>
            </a:pPr>
            <a:r>
              <a:rPr sz="1350" b="1">
                <a:solidFill>
                  <a:srgbClr val="191713"/>
                </a:solidFill>
              </a:rPr>
              <a:t>Senior UX Designer | Service Design | UX Research | Systems Thinking</a:t>
            </a:r>
          </a:p>
        </p:txBody>
      </p:sp>
    </p:spTree>
    <p:extLst>
      <p:ext uri="{BB962C8B-B14F-4D97-AF65-F5344CB8AC3E}">
        <p14:creationId xmlns:p14="http://schemas.microsoft.com/office/powerpoint/2010/main" val="1902490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EB56CC-1300-472D-8D67-C9A112A5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91713"/>
                </a:solidFill>
              </a:defRPr>
            </a:pPr>
            <a:r>
              <a:rPr sz="3300" b="0">
                <a:solidFill>
                  <a:srgbClr val="191713"/>
                </a:solidFill>
              </a:rPr>
              <a:t>The program had many owners, but no shared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14794-D7F3-41C9-A27D-A686F8AB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56F64"/>
                </a:solidFill>
              </a:defRPr>
            </a:pPr>
            <a:r>
              <a:rPr sz="1500" b="0">
                <a:solidFill>
                  <a:srgbClr val="756F64"/>
                </a:solidFill>
              </a:rPr>
              <a:t>Each function understood its own work. No one could see the full customer journey across a process lasting more than a year.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6E463-B499-4B37-A4B8-AC4536F3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D92E1-113A-461F-86F9-3953D003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Carbon Program Service Blueprint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C2892-5D5A-450F-A6DD-8F93C889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A0FB3-2ADD-4D75-8D13-3AED2C14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8B307-1825-40FE-A168-0AFC5C33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1713"/>
                </a:solidFill>
              </a:defRPr>
            </a:pPr>
            <a:r>
              <a:rPr sz="1725" b="0">
                <a:solidFill>
                  <a:srgbClr val="191713"/>
                </a:solidFill>
              </a:rPr>
              <a:t>Duplicated work across teams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A14B1-A3BB-4C76-8793-8F911DED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75C96-D021-4B0A-8277-77284AA6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1713"/>
                </a:solidFill>
              </a:defRPr>
            </a:pPr>
            <a:r>
              <a:rPr sz="1725" b="0">
                <a:solidFill>
                  <a:srgbClr val="191713"/>
                </a:solidFill>
              </a:rPr>
              <a:t>Disconnected systems and handoffs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A6FCB-990A-480B-94E1-5744391D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C35B7-47C4-4EE0-9097-8C6CB0D5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1713"/>
                </a:solidFill>
              </a:defRPr>
            </a:pPr>
            <a:r>
              <a:rPr sz="1725" b="0">
                <a:solidFill>
                  <a:srgbClr val="191713"/>
                </a:solidFill>
              </a:rPr>
              <a:t>Inconsistent grower communication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47ADF-D9AE-430E-B536-1CCD87BA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0E084-AD70-4B04-8B30-74EE3F0D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1713"/>
                </a:solidFill>
              </a:defRPr>
            </a:pPr>
            <a:r>
              <a:rPr sz="1725" b="0">
                <a:solidFill>
                  <a:srgbClr val="191713"/>
                </a:solidFill>
              </a:rPr>
              <a:t>Unclear ownership at key moments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13591-282C-4EA6-BF2A-385B1099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B54E4-444E-48CE-9400-C0854220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1713"/>
                </a:solidFill>
              </a:defRPr>
            </a:pPr>
            <a:r>
              <a:rPr sz="1725" b="0">
                <a:solidFill>
                  <a:srgbClr val="191713"/>
                </a:solidFill>
              </a:rPr>
              <a:t>Poor visibility into customer progress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0A78D-A2D9-4F45-B0A5-4D0D22C9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33600"/>
            <a:ext cx="4038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371079-C263-45EF-9536-D5301F3C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19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64F2B"/>
                </a:solidFill>
              </a:defRPr>
            </a:pPr>
            <a:r>
              <a:rPr sz="1350" b="1">
                <a:solidFill>
                  <a:srgbClr val="A64F2B"/>
                </a:solidFill>
              </a:rPr>
              <a:t>Core problem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9FA239-A255-4849-A2BC-7952F84A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765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91713"/>
                </a:solidFill>
              </a:defRPr>
            </a:pPr>
            <a:r>
              <a:rPr sz="2100" b="1">
                <a:solidFill>
                  <a:srgbClr val="191713"/>
                </a:solidFill>
              </a:rPr>
              <a:t>The experience looked like enrollment to customers, but operated like a long-running service ecosystem behind the scenes.</a:t>
            </a:r>
          </a:p>
        </p:txBody>
      </p:sp>
    </p:spTree>
    <p:extLst>
      <p:ext uri="{BB962C8B-B14F-4D97-AF65-F5344CB8AC3E}">
        <p14:creationId xmlns:p14="http://schemas.microsoft.com/office/powerpoint/2010/main" val="2603721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4C2764-6F83-4409-B66C-57225147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91713"/>
                </a:solidFill>
              </a:defRPr>
            </a:pPr>
            <a:r>
              <a:rPr sz="3300" b="0">
                <a:solidFill>
                  <a:srgbClr val="191713"/>
                </a:solidFill>
              </a:rPr>
              <a:t>The goal was a single source of truth for the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7DEE9-551E-4267-B107-CEF367DF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56F64"/>
                </a:solidFill>
              </a:defRPr>
            </a:pPr>
            <a:r>
              <a:rPr sz="1500" b="0">
                <a:solidFill>
                  <a:srgbClr val="756F64"/>
                </a:solidFill>
              </a:rPr>
              <a:t>The blueprint needed to document the visible journey and the hidden operational work that made it possible.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55E61-16B1-4B52-8BC2-2D93D454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076A2-E3D0-44EA-8F9E-EE2E2FF2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Carbon Program Service Blueprint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CE06C-B43A-41B7-B0EE-D7DB5E6B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BDBC5-37C4-45F6-A8DC-C1BE92AC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381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4D4"/>
          </a:solidFill>
          <a:ln xmlns:a="http://schemas.openxmlformats.org/drawingml/2006/main" w="9525">
            <a:solidFill>
              <a:srgbClr val="A64F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19A0E-8913-46DC-9525-D826909A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64F2B"/>
                </a:solidFill>
              </a:defRPr>
            </a:pPr>
            <a:r>
              <a:rPr sz="1275" b="1">
                <a:solidFill>
                  <a:srgbClr val="A64F2B"/>
                </a:solidFill>
              </a:rPr>
              <a:t>Customer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758EF-0EE8-4529-A64F-18CF9FD1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2038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1713"/>
                </a:solidFill>
              </a:defRPr>
            </a:pPr>
            <a:r>
              <a:rPr sz="1800" b="0">
                <a:solidFill>
                  <a:srgbClr val="191713"/>
                </a:solidFill>
              </a:rPr>
              <a:t>Understand every touchpoint and expectation.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869F1-8235-4B24-ABDB-205CA3F3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86000"/>
            <a:ext cx="2381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0CD6F-5E25-420D-8FBB-AACF4D2A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574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56F64"/>
                </a:solidFill>
              </a:defRPr>
            </a:pPr>
            <a:r>
              <a:rPr sz="1275" b="1">
                <a:solidFill>
                  <a:srgbClr val="756F64"/>
                </a:solidFill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4B8DC-BC84-443C-9D79-CC959E62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38450"/>
            <a:ext cx="2038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1713"/>
                </a:solidFill>
              </a:defRPr>
            </a:pPr>
            <a:r>
              <a:rPr sz="1800" b="0">
                <a:solidFill>
                  <a:srgbClr val="191713"/>
                </a:solidFill>
              </a:rPr>
              <a:t>Reveal hidden work, ownership gaps, and handoffs.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3E240-19F0-4ECE-B25A-82097BCC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86000"/>
            <a:ext cx="2381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4B919-D68E-4E3A-AFAE-6CBA7F08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56F64"/>
                </a:solidFill>
              </a:defRPr>
            </a:pPr>
            <a:r>
              <a:rPr sz="1275" b="1">
                <a:solidFill>
                  <a:srgbClr val="756F64"/>
                </a:solidFill>
              </a:rPr>
              <a:t>Systems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C6313-3B98-4B62-8B43-6B73E268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38450"/>
            <a:ext cx="2038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1713"/>
                </a:solidFill>
              </a:defRPr>
            </a:pPr>
            <a:r>
              <a:rPr sz="1800" b="0">
                <a:solidFill>
                  <a:srgbClr val="191713"/>
                </a:solidFill>
              </a:rPr>
              <a:t>Map dependencies across CRM, DMP, automation, and payment tools.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36EE9-7A80-4AD8-9F5C-3A9C3205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2381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6D00F-A731-491C-AE19-C39316C1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56F64"/>
                </a:solidFill>
              </a:defRPr>
            </a:pPr>
            <a:r>
              <a:rPr sz="1275" b="1">
                <a:solidFill>
                  <a:srgbClr val="756F64"/>
                </a:solidFill>
              </a:rPr>
              <a:t>Alignment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1A1339-1C5B-4D70-8B30-200DBD23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38450"/>
            <a:ext cx="2038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1713"/>
                </a:solidFill>
              </a:defRPr>
            </a:pPr>
            <a:r>
              <a:rPr sz="1800" b="0">
                <a:solidFill>
                  <a:srgbClr val="191713"/>
                </a:solidFill>
              </a:rPr>
              <a:t>Create a shared foundation for process improvements.</a:t>
            </a:r>
          </a:p>
        </p:txBody>
      </p:sp>
    </p:spTree>
    <p:extLst>
      <p:ext uri="{BB962C8B-B14F-4D97-AF65-F5344CB8AC3E}">
        <p14:creationId xmlns:p14="http://schemas.microsoft.com/office/powerpoint/2010/main" val="4405344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0C55D2-220F-45CE-AEFC-1517C4F6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91713"/>
                </a:solidFill>
              </a:defRPr>
            </a:pPr>
            <a:r>
              <a:rPr sz="3300" b="0">
                <a:solidFill>
                  <a:srgbClr val="191713"/>
                </a:solidFill>
              </a:rPr>
              <a:t>My role covered research, facilitation, synthesis, and leadership alignment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4535C-820B-477A-BB21-0B9DBAB9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56F64"/>
                </a:solidFill>
              </a:defRPr>
            </a:pPr>
            <a:r>
              <a:rPr sz="1500" b="0">
                <a:solidFill>
                  <a:srgbClr val="756F64"/>
                </a:solidFill>
              </a:rPr>
              <a:t>I worked with two additional UX designers across three design sprints.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0BA1A-2BDD-4247-982A-944FC387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B9F99-DB0D-4102-BD75-427AAE02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Carbon Program Service Blueprint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7A7B4-2A55-42A7-BC62-4BE571DA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469AD-B841-4ECF-94D0-00CFCF90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DB141-BBC4-4018-A3D8-8955025D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1713"/>
                </a:solidFill>
              </a:defRPr>
            </a:pPr>
            <a:r>
              <a:rPr sz="1725" b="0">
                <a:solidFill>
                  <a:srgbClr val="191713"/>
                </a:solidFill>
              </a:rPr>
              <a:t>Planned research activities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6E7AD-E899-4995-B1AC-4005BDB5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2080A-9E42-4A1C-ACA3-B8E3663A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1713"/>
                </a:solidFill>
              </a:defRPr>
            </a:pPr>
            <a:r>
              <a:rPr sz="1725" b="0">
                <a:solidFill>
                  <a:srgbClr val="191713"/>
                </a:solidFill>
              </a:rPr>
              <a:t>Interviewed stakeholders across business 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78216-AF7C-4A4D-B9B1-C7343123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D4A9F-8376-450B-9637-C50C550D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1713"/>
                </a:solidFill>
              </a:defRPr>
            </a:pPr>
            <a:r>
              <a:rPr sz="1725" b="0">
                <a:solidFill>
                  <a:srgbClr val="191713"/>
                </a:solidFill>
              </a:rPr>
              <a:t>Facilitated service blueprint workshops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D183F-0A36-4668-9C50-45E6AE4E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AE5CD-F008-4835-BE1B-EDD1AA05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1713"/>
                </a:solidFill>
              </a:defRPr>
            </a:pPr>
            <a:r>
              <a:rPr sz="1725" b="0">
                <a:solidFill>
                  <a:srgbClr val="191713"/>
                </a:solidFill>
              </a:rPr>
              <a:t>Mapped frontstage and backstage processes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13F7BE-2C9A-447C-865D-E5A63810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BC7BF-75DE-4ABB-A937-A05653D3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479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1713"/>
                </a:solidFill>
              </a:defRPr>
            </a:pPr>
            <a:r>
              <a:rPr sz="1725" b="0">
                <a:solidFill>
                  <a:srgbClr val="191713"/>
                </a:solidFill>
              </a:rPr>
              <a:t>Identified system dependencies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239C6-59F4-46E6-A977-CF9E8919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406F56-EFC0-485C-8928-D52477D6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241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1713"/>
                </a:solidFill>
              </a:defRPr>
            </a:pPr>
            <a:r>
              <a:rPr sz="1725" b="0">
                <a:solidFill>
                  <a:srgbClr val="191713"/>
                </a:solidFill>
              </a:rPr>
              <a:t>Synthesized operational pain points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BEB90C-593D-4285-A869-9AA5DE2E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488BC4-56FC-468E-BD5F-1E098372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04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1713"/>
                </a:solidFill>
              </a:defRPr>
            </a:pPr>
            <a:r>
              <a:rPr sz="1725" b="0">
                <a:solidFill>
                  <a:srgbClr val="191713"/>
                </a:solidFill>
              </a:rPr>
              <a:t>Validated findings with teams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FD5260-AA36-4ECC-B7FC-3B0297DB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B4DBA8-860E-4D4E-8B14-6D59117E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766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1713"/>
                </a:solidFill>
              </a:defRPr>
            </a:pPr>
            <a:r>
              <a:rPr sz="1725" b="0">
                <a:solidFill>
                  <a:srgbClr val="191713"/>
                </a:solidFill>
              </a:rPr>
              <a:t>Presented recommendations to leadership</a:t>
            </a:r>
          </a:p>
        </p:txBody>
      </p:sp>
    </p:spTree>
    <p:extLst>
      <p:ext uri="{BB962C8B-B14F-4D97-AF65-F5344CB8AC3E}">
        <p14:creationId xmlns:p14="http://schemas.microsoft.com/office/powerpoint/2010/main" val="581094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6EC291-0977-44AC-9E27-85C18CEA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91713"/>
                </a:solidFill>
              </a:defRPr>
            </a:pPr>
            <a:r>
              <a:rPr sz="3300" b="0">
                <a:solidFill>
                  <a:srgbClr val="191713"/>
                </a:solidFill>
              </a:rPr>
              <a:t>Discovery moved from individual views to a validated service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44157-1268-4F6C-8046-414A0DC2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56F64"/>
                </a:solidFill>
              </a:defRPr>
            </a:pPr>
            <a:r>
              <a:rPr sz="1500" b="0">
                <a:solidFill>
                  <a:srgbClr val="756F64"/>
                </a:solidFill>
              </a:rPr>
              <a:t>The work combined interviews, synthesis, blueprinting, and review cycles with the teams responsible for the service.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AD338-0664-49A3-BF60-5E7A85DB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4AE35-4CB5-45B0-A02E-52D82DA5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Carbon Program Service Blueprint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CAD56-8D72-4E86-A8DA-C6022A13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91C22-89A8-4436-A40C-E0E3FB4B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1276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F7EF0-916D-4FBC-83AD-9FC3214F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1713"/>
                </a:solidFill>
              </a:defRPr>
            </a:pPr>
            <a:r>
              <a:rPr sz="1350" b="1">
                <a:solidFill>
                  <a:srgbClr val="191713"/>
                </a:solidFill>
              </a:rPr>
              <a:t>Research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9B565-F2D2-45B2-AC7F-87E28E86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667000"/>
            <a:ext cx="1276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E34A2-D28D-4240-AFF0-6AC698E0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876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1713"/>
                </a:solidFill>
              </a:defRPr>
            </a:pPr>
            <a:r>
              <a:rPr sz="1350" b="1">
                <a:solidFill>
                  <a:srgbClr val="191713"/>
                </a:solidFill>
              </a:rPr>
              <a:t>Stakeholder</a:t>
            </a:r>
          </a:p>
          <a:p xmlns:a="http://schemas.openxmlformats.org/drawingml/2006/main">
            <a:pPr algn="ctr">
              <a:defRPr sz="1350" b="1">
                <a:solidFill>
                  <a:srgbClr val="191713"/>
                </a:solidFill>
              </a:defRPr>
            </a:pPr>
            <a:r>
              <a:rPr sz="1350" b="1">
                <a:solidFill>
                  <a:srgbClr val="191713"/>
                </a:solidFill>
              </a:rPr>
              <a:t>interviews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EAF63-D886-4501-8F58-69B2923F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67000"/>
            <a:ext cx="1276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DA20A-3C9A-45D4-A145-3FE60B87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76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1713"/>
                </a:solidFill>
              </a:defRPr>
            </a:pPr>
            <a:r>
              <a:rPr sz="1350" b="1">
                <a:solidFill>
                  <a:srgbClr val="191713"/>
                </a:solidFill>
              </a:rPr>
              <a:t>Journey</a:t>
            </a:r>
          </a:p>
          <a:p xmlns:a="http://schemas.openxmlformats.org/drawingml/2006/main">
            <a:pPr algn="ctr">
              <a:defRPr sz="1350" b="1">
                <a:solidFill>
                  <a:srgbClr val="191713"/>
                </a:solidFill>
              </a:defRPr>
            </a:pPr>
            <a:r>
              <a:rPr sz="1350" b="1">
                <a:solidFill>
                  <a:srgbClr val="191713"/>
                </a:solidFill>
              </a:rPr>
              <a:t>mapping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50F41-3A3B-4328-9302-52663D19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67000"/>
            <a:ext cx="1276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1271A-7683-478D-8E15-91725A25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876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1713"/>
                </a:solidFill>
              </a:defRPr>
            </a:pPr>
            <a:r>
              <a:rPr sz="1350" b="1">
                <a:solidFill>
                  <a:srgbClr val="191713"/>
                </a:solidFill>
              </a:rPr>
              <a:t>Affinity</a:t>
            </a:r>
          </a:p>
          <a:p xmlns:a="http://schemas.openxmlformats.org/drawingml/2006/main">
            <a:pPr algn="ctr">
              <a:defRPr sz="1350" b="1">
                <a:solidFill>
                  <a:srgbClr val="191713"/>
                </a:solidFill>
              </a:defRPr>
            </a:pPr>
            <a:r>
              <a:rPr sz="1350" b="1">
                <a:solidFill>
                  <a:srgbClr val="191713"/>
                </a:solidFill>
              </a:rPr>
              <a:t>mapping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AFB1D-9395-4C51-8F96-23CBAB0B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67000"/>
            <a:ext cx="1276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AD57B-572D-4DE7-85B8-F2777B28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76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1713"/>
                </a:solidFill>
              </a:defRPr>
            </a:pPr>
            <a:r>
              <a:rPr sz="1350" b="1">
                <a:solidFill>
                  <a:srgbClr val="191713"/>
                </a:solidFill>
              </a:rPr>
              <a:t>Blueprint</a:t>
            </a:r>
          </a:p>
          <a:p xmlns:a="http://schemas.openxmlformats.org/drawingml/2006/main">
            <a:pPr algn="ctr">
              <a:defRPr sz="1350" b="1">
                <a:solidFill>
                  <a:srgbClr val="191713"/>
                </a:solidFill>
              </a:defRPr>
            </a:pPr>
            <a:r>
              <a:rPr sz="1350" b="1">
                <a:solidFill>
                  <a:srgbClr val="191713"/>
                </a:solidFill>
              </a:rPr>
              <a:t>creation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FCB7A-31C5-4ED8-9DF9-FAF8C908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667000"/>
            <a:ext cx="1276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E9ABA-C404-469A-9114-D52C6E03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76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1713"/>
                </a:solidFill>
              </a:defRPr>
            </a:pPr>
            <a:r>
              <a:rPr sz="1350" b="1">
                <a:solidFill>
                  <a:srgbClr val="191713"/>
                </a:solidFill>
              </a:rPr>
              <a:t>Validation</a:t>
            </a:r>
          </a:p>
          <a:p xmlns:a="http://schemas.openxmlformats.org/drawingml/2006/main">
            <a:pPr algn="ctr">
              <a:defRPr sz="1350" b="1">
                <a:solidFill>
                  <a:srgbClr val="191713"/>
                </a:solidFill>
              </a:defRPr>
            </a:pPr>
            <a:r>
              <a:rPr sz="1350" b="1">
                <a:solidFill>
                  <a:srgbClr val="191713"/>
                </a:solidFill>
              </a:rPr>
              <a:t>workshops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7D217D-D87E-4CB4-A27C-5D355078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67000"/>
            <a:ext cx="1276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0210AA-6412-4AC5-BBCB-43D80FF9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876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1713"/>
                </a:solidFill>
              </a:defRPr>
            </a:pPr>
            <a:r>
              <a:rPr sz="1350" b="1">
                <a:solidFill>
                  <a:srgbClr val="191713"/>
                </a:solidFill>
              </a:rPr>
              <a:t>Leadership</a:t>
            </a:r>
          </a:p>
          <a:p xmlns:a="http://schemas.openxmlformats.org/drawingml/2006/main">
            <a:pPr algn="ctr">
              <a:defRPr sz="1350" b="1">
                <a:solidFill>
                  <a:srgbClr val="191713"/>
                </a:solidFill>
              </a:defRPr>
            </a:pPr>
            <a:r>
              <a:rPr sz="1350" b="1">
                <a:solidFill>
                  <a:srgbClr val="191713"/>
                </a:solidFill>
              </a:rPr>
              <a:t>reviews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AC31F1-992D-48A7-ABC2-5B3F386E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67050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4F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A93484-4F19-4CC4-8F28-933C2341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067050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4F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D814BB-4E97-4F8A-9CF7-30AD4AE5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67050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4F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903EBA-E6DD-423A-A6A0-5A6486A4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67050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4F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64A3D2-5CF2-4AF6-9A15-BF969C9D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67050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4F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5F332A-071A-4A20-9941-A1681F66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067050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4F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DCD3A0-C5C1-4C3E-BBC2-4D63C1D2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6F64"/>
                </a:solidFill>
              </a:defRPr>
            </a:pPr>
            <a:r>
              <a:rPr sz="1725" b="0">
                <a:solidFill>
                  <a:srgbClr val="756F64"/>
                </a:solidFill>
              </a:rPr>
              <a:t>Participants included growers, dealers, field representatives, operations, finance, product, customer support, and leadership.</a:t>
            </a:r>
          </a:p>
        </p:txBody>
      </p:sp>
    </p:spTree>
    <p:extLst>
      <p:ext uri="{BB962C8B-B14F-4D97-AF65-F5344CB8AC3E}">
        <p14:creationId xmlns:p14="http://schemas.microsoft.com/office/powerpoint/2010/main" val="6458177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7F86D3-F0A0-4822-8C82-AA63BB5D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91713"/>
                </a:solidFill>
              </a:defRPr>
            </a:pPr>
            <a:r>
              <a:rPr sz="3300" b="0">
                <a:solidFill>
                  <a:srgbClr val="191713"/>
                </a:solidFill>
              </a:rPr>
              <a:t>The blueprint made the whole service visible at once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0478A-7774-4ECA-9A21-575ADD9A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56F64"/>
                </a:solidFill>
              </a:defRPr>
            </a:pPr>
            <a:r>
              <a:rPr sz="1500" b="0">
                <a:solidFill>
                  <a:srgbClr val="756F64"/>
                </a:solidFill>
              </a:rPr>
              <a:t>It captured customer-facing moments, internal work, systems, handoffs, waits, and decision points across the full program lifecycle.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1D9C8-D32E-4BA5-94A3-E2AE9DFD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8B388-5559-4A65-971B-D8083D03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Carbon Program Service Blueprint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331E5-6D5E-442D-886B-0D4F9DC5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A84E6-60DD-4DAC-AF2B-5570B5CA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110871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27435ccf84d50"/>
          <a:stretch xmlns:a="http://schemas.openxmlformats.org/drawingml/2006/main"/>
        </p:blipFill>
        <p:spPr>
          <a:xfrm xmlns:a="http://schemas.openxmlformats.org/drawingml/2006/main">
            <a:off x="3464200" y="2114550"/>
            <a:ext cx="5263600" cy="3562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408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B77DCF-CD9D-4C3C-AA5B-B8FF505A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91713"/>
                </a:solidFill>
              </a:defRPr>
            </a:pPr>
            <a:r>
              <a:rPr sz="3300" b="0">
                <a:solidFill>
                  <a:srgbClr val="191713"/>
                </a:solidFill>
              </a:rPr>
              <a:t>Two entry paths created different expectations before converging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1E6EC-2D6C-4E3F-B407-96A66556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56F64"/>
                </a:solidFill>
              </a:defRPr>
            </a:pPr>
            <a:r>
              <a:rPr sz="1500" b="0">
                <a:solidFill>
                  <a:srgbClr val="756F64"/>
                </a:solidFill>
              </a:rPr>
              <a:t>Self-guided discovery and advisor-led discovery introduced different expectations before the journey moved into the same enrollment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E2F49-63C2-41A3-A276-C7DBEAE2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FB1E9-C710-4D40-9ECA-8913B460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Carbon Program Service Blueprint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8E0B8-1C6D-4AE4-90D5-B710E987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50DC5-6329-486A-80FD-9E42FBCB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048a8c6db49d5"/>
          <a:stretch xmlns:a="http://schemas.openxmlformats.org/drawingml/2006/main"/>
        </p:blipFill>
        <p:spPr>
          <a:xfrm xmlns:a="http://schemas.openxmlformats.org/drawingml/2006/main">
            <a:off x="3599235" y="2038350"/>
            <a:ext cx="4993531" cy="3638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3918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BB8439-56D3-477B-8279-D6702F85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91713"/>
                </a:solidFill>
              </a:defRPr>
            </a:pPr>
            <a:r>
              <a:rPr sz="3300" b="0">
                <a:solidFill>
                  <a:srgbClr val="191713"/>
                </a:solidFill>
              </a:rPr>
              <a:t>Enrollment revealed how quickly digital steps became operational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47074-62A5-4416-8C87-322913AD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56F64"/>
                </a:solidFill>
              </a:defRPr>
            </a:pPr>
            <a:r>
              <a:rPr sz="1500" b="0">
                <a:solidFill>
                  <a:srgbClr val="756F64"/>
                </a:solidFill>
              </a:rPr>
              <a:t>Account creation, contract signing, FieldView setup, and DMP updates created a chain of visible and invisible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4A261-7E47-40B2-B9CB-26A003BA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5150E-5A80-4975-9953-A92E2373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Carbon Program Service Blueprint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2140B-40DB-470C-AE60-DB4C6309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482A1-ACF3-4AD7-95F5-05FD250E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111252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d6422e0664b4c"/>
          <a:stretch xmlns:a="http://schemas.openxmlformats.org/drawingml/2006/main"/>
        </p:blipFill>
        <p:spPr>
          <a:xfrm xmlns:a="http://schemas.openxmlformats.org/drawingml/2006/main">
            <a:off x="3363281" y="2038350"/>
            <a:ext cx="5465437" cy="3638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5609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07144F-C149-433E-99BA-32E579FE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91713"/>
                </a:solidFill>
              </a:defRPr>
            </a:pPr>
            <a:r>
              <a:rPr sz="3300" b="0">
                <a:solidFill>
                  <a:srgbClr val="191713"/>
                </a:solidFill>
              </a:rPr>
              <a:t>Most of the service happened where customers could not see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622B9-B58F-424C-B9E4-593ADFA5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56F64"/>
                </a:solidFill>
              </a:defRPr>
            </a:pPr>
            <a:r>
              <a:rPr sz="1500" b="0">
                <a:solidFill>
                  <a:srgbClr val="756F64"/>
                </a:solidFill>
              </a:rPr>
              <a:t>The blueprint separated the simple external experience from the dense internal ecosystem required to deliver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804D8-BA92-44DC-88F4-8C61B837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472DB-F1F2-444F-868D-F07D6817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Carbon Program Service Blueprint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0299B-128A-48EA-86A1-18297FA9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3A532-9756-43AC-A243-196EE112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91713"/>
                </a:solidFill>
              </a:defRPr>
            </a:pPr>
            <a:r>
              <a:rPr sz="1950" b="1">
                <a:solidFill>
                  <a:srgbClr val="191713"/>
                </a:solidFill>
              </a:rPr>
              <a:t>Customer sees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4DA9E-1811-4C21-BA20-CC3F368A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91713"/>
                </a:solidFill>
              </a:defRPr>
            </a:pPr>
            <a:r>
              <a:rPr sz="1950" b="1">
                <a:solidFill>
                  <a:srgbClr val="191713"/>
                </a:solidFill>
              </a:rPr>
              <a:t>Customer never sees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38EB2-FFA3-4174-BEC4-10C520E5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4D4"/>
          </a:solidFill>
          <a:ln xmlns:a="http://schemas.openxmlformats.org/drawingml/2006/main" w="9525">
            <a:solidFill>
              <a:srgbClr val="A64F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AF294-C66B-4FDF-8329-54B2E3BC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27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1713"/>
                </a:solidFill>
              </a:defRPr>
            </a:pPr>
            <a:r>
              <a:rPr sz="1275" b="1">
                <a:solidFill>
                  <a:srgbClr val="191713"/>
                </a:solidFill>
              </a:rPr>
              <a:t>Website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0749B-298F-4DC9-A387-6BE8AD94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DD0E5-A409-48C8-96F2-7B1DE738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327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1713"/>
                </a:solidFill>
              </a:defRPr>
            </a:pPr>
            <a:r>
              <a:rPr sz="1275" b="1">
                <a:solidFill>
                  <a:srgbClr val="191713"/>
                </a:solidFill>
              </a:rPr>
              <a:t>Emails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EB66F-8B7C-4DD4-9CB1-CD1113DE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2346E-AC60-4630-A731-F4ECA9ED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327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1713"/>
                </a:solidFill>
              </a:defRPr>
            </a:pPr>
            <a:r>
              <a:rPr sz="1275" b="1">
                <a:solidFill>
                  <a:srgbClr val="191713"/>
                </a:solidFill>
              </a:rPr>
              <a:t>Enrollment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BFE6A-8DE2-45C7-A5F3-3C75F31D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FFE8F-B4D0-4096-AD0A-497AB3B2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327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1713"/>
                </a:solidFill>
              </a:defRPr>
            </a:pPr>
            <a:r>
              <a:rPr sz="1275" b="1">
                <a:solidFill>
                  <a:srgbClr val="191713"/>
                </a:solidFill>
              </a:rPr>
              <a:t>Payments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96BB0-B7BA-47E2-A7DF-28352E08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203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6DDA9-B778-4A37-8982-E32C21D4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1713"/>
                </a:solidFill>
              </a:defRPr>
            </a:pPr>
            <a:r>
              <a:rPr sz="1275" b="1">
                <a:solidFill>
                  <a:srgbClr val="191713"/>
                </a:solidFill>
              </a:rPr>
              <a:t>Marketing automation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903F72-FCB9-4A43-8508-FD5D040F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28900"/>
            <a:ext cx="203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61B490-D2EB-4857-8AE1-71E8A992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813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1713"/>
                </a:solidFill>
              </a:defRPr>
            </a:pPr>
            <a:r>
              <a:rPr sz="1275" b="1">
                <a:solidFill>
                  <a:srgbClr val="191713"/>
                </a:solidFill>
              </a:rPr>
              <a:t>CRM and DMP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B50340-BC6F-4FA6-9DA7-C49C01A8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05200"/>
            <a:ext cx="203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4D4"/>
          </a:solidFill>
          <a:ln xmlns:a="http://schemas.openxmlformats.org/drawingml/2006/main" w="9525">
            <a:solidFill>
              <a:srgbClr val="A64F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88B950-3FB4-460E-A1CF-DA84C210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576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1713"/>
                </a:solidFill>
              </a:defRPr>
            </a:pPr>
            <a:r>
              <a:rPr sz="1275" b="1">
                <a:solidFill>
                  <a:srgbClr val="191713"/>
                </a:solidFill>
              </a:rPr>
              <a:t>Verification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FDE279-BE00-44E8-91F9-E6B3083C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05200"/>
            <a:ext cx="203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FDBBD1-C635-4271-9E56-FC2D260B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576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1713"/>
                </a:solidFill>
              </a:defRPr>
            </a:pPr>
            <a:r>
              <a:rPr sz="1275" b="1">
                <a:solidFill>
                  <a:srgbClr val="191713"/>
                </a:solidFill>
              </a:rPr>
              <a:t>Operations approvals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6EB6A8-FF76-4675-8D89-FE6CD2FB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81500"/>
            <a:ext cx="203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56A89B-50F5-4372-A671-F15661E9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339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1713"/>
                </a:solidFill>
              </a:defRPr>
            </a:pPr>
            <a:r>
              <a:rPr sz="1275" b="1">
                <a:solidFill>
                  <a:srgbClr val="191713"/>
                </a:solidFill>
              </a:rPr>
              <a:t>Finance and legal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1080B2-E90E-428A-AEDF-840CC7FF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81500"/>
            <a:ext cx="203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D2E38B-80DB-42AE-9CE5-767E680E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339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1713"/>
                </a:solidFill>
              </a:defRPr>
            </a:pPr>
            <a:r>
              <a:rPr sz="1275" b="1">
                <a:solidFill>
                  <a:srgbClr val="191713"/>
                </a:solidFill>
              </a:rPr>
              <a:t>Field scheduling</a:t>
            </a:r>
          </a:p>
        </p:txBody>
      </p:sp>
    </p:spTree>
    <p:extLst>
      <p:ext uri="{BB962C8B-B14F-4D97-AF65-F5344CB8AC3E}">
        <p14:creationId xmlns:p14="http://schemas.microsoft.com/office/powerpoint/2010/main" val="4007581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900F49-9B20-4CEA-B017-9E81ECB3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91713"/>
                </a:solidFill>
              </a:defRPr>
            </a:pPr>
            <a:r>
              <a:rPr sz="3300" b="0">
                <a:solidFill>
                  <a:srgbClr val="191713"/>
                </a:solidFill>
              </a:rPr>
              <a:t>Waiting was often a seasonal dependency, not a broken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8FC4F-029B-4929-8A98-3B082FBD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56F64"/>
                </a:solidFill>
              </a:defRPr>
            </a:pPr>
            <a:r>
              <a:rPr sz="1500" b="0">
                <a:solidFill>
                  <a:srgbClr val="756F64"/>
                </a:solidFill>
              </a:rPr>
              <a:t>Post-harvest and data collection steps showed why customer quiet periods could represent expected agricultural timing.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2BE0F-4AB2-458C-855D-96CC071F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6D4E8-1D12-435D-A322-7BF43FC9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Carbon Program Service Blueprint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7D7F5-2B58-447D-90E0-40D2B9ED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57ACD-0807-422D-9EED-B5EDC5A4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427672d6e4662"/>
          <a:stretch xmlns:a="http://schemas.openxmlformats.org/drawingml/2006/main"/>
        </p:blipFill>
        <p:spPr>
          <a:xfrm xmlns:a="http://schemas.openxmlformats.org/drawingml/2006/main">
            <a:off x="3520694" y="2038350"/>
            <a:ext cx="5150612" cy="3638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148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2DA5A8-A41C-49E8-90C6-14F888B4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91713"/>
                </a:solidFill>
              </a:defRPr>
            </a:pPr>
            <a:r>
              <a:rPr sz="3300" b="0">
                <a:solidFill>
                  <a:srgbClr val="191713"/>
                </a:solidFill>
              </a:rPr>
              <a:t>Decision points exposed the real workflow complexity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CC872-E61F-459B-92F5-CD3CED29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56F64"/>
                </a:solidFill>
              </a:defRPr>
            </a:pPr>
            <a:r>
              <a:rPr sz="1500" b="0">
                <a:solidFill>
                  <a:srgbClr val="756F64"/>
                </a:solidFill>
              </a:rPr>
              <a:t>Payment eligibility depended on approvals, verification outcomes, reconciliation loops, and re-review across teams.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9B6A4-00E4-4CC6-8FFF-8BFEE5D8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79152-951B-424E-B618-50EF9198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Carbon Program Service Blueprint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0BC8B-6439-4A17-B61B-60F5870E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A99D0-02D9-42BB-A3BA-CC4D4E8D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0c7218e394e7e"/>
          <a:stretch xmlns:a="http://schemas.openxmlformats.org/drawingml/2006/main"/>
        </p:blipFill>
        <p:spPr>
          <a:xfrm xmlns:a="http://schemas.openxmlformats.org/drawingml/2006/main">
            <a:off x="3621884" y="2038350"/>
            <a:ext cx="4948231" cy="3638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1278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84C403-A8DC-4660-A559-04CF4937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91713"/>
                </a:solidFill>
              </a:defRPr>
            </a:pPr>
            <a:r>
              <a:rPr sz="3300" b="0">
                <a:solidFill>
                  <a:srgbClr val="191713"/>
                </a:solidFill>
              </a:rPr>
              <a:t>Verification connected back-office data to customer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038AF-DC84-4952-BC28-BDA0FA05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56F64"/>
                </a:solidFill>
              </a:defRPr>
            </a:pPr>
            <a:r>
              <a:rPr sz="1500" b="0">
                <a:solidFill>
                  <a:srgbClr val="756F64"/>
                </a:solidFill>
              </a:rPr>
              <a:t>Data review, soil collection, payout readiness, and missing documentation created multiple points where ownership had to be explicit.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F8433-08C6-4065-AF79-43B5F4C6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BDB14-D420-4398-BAF8-01BC91D1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Carbon Program Service Blueprint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8BE31-75F5-435D-B0AE-6F99CEC5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FBC85-3A4D-42BE-B540-C698E7D3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b0d455db04dce"/>
          <a:stretch xmlns:a="http://schemas.openxmlformats.org/drawingml/2006/main"/>
        </p:blipFill>
        <p:spPr>
          <a:xfrm xmlns:a="http://schemas.openxmlformats.org/drawingml/2006/main">
            <a:off x="3601912" y="2038350"/>
            <a:ext cx="4988175" cy="3638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6017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1EC1F5-4846-4AD3-BFD9-7ECE05B3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91713"/>
                </a:solidFill>
              </a:defRPr>
            </a:pPr>
            <a:r>
              <a:rPr sz="3300" b="0">
                <a:solidFill>
                  <a:srgbClr val="191713"/>
                </a:solidFill>
              </a:rPr>
              <a:t>The findings grouped into process, technology, and experience themes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DCCD1-D050-4EDB-8403-7C5ABD90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56F64"/>
                </a:solidFill>
              </a:defRPr>
            </a:pPr>
            <a:r>
              <a:rPr sz="1500" b="0">
                <a:solidFill>
                  <a:srgbClr val="756F64"/>
                </a:solidFill>
              </a:rPr>
              <a:t>This framing helped teams see which issues were operational, which were system-driven, and which were felt by the customer.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E9140-9B91-4BD4-8166-BF02509B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EA2E5-53B4-4B19-AA06-11DC592B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Carbon Program Service Blueprint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8341D-B64A-412C-82A5-121A892C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75995-5379-460E-A283-45D24C91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4D4"/>
          </a:solidFill>
          <a:ln xmlns:a="http://schemas.openxmlformats.org/drawingml/2006/main" w="9525">
            <a:solidFill>
              <a:srgbClr val="A64F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052DD-FC34-480C-BBAF-D353B19F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64F2B"/>
                </a:solidFill>
              </a:defRPr>
            </a:pPr>
            <a:r>
              <a:rPr sz="1275" b="1">
                <a:solidFill>
                  <a:srgbClr val="A64F2B"/>
                </a:solidFill>
              </a:rPr>
              <a:t>Process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4570F-85FC-4D1A-80E8-8D542AB3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28003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1713"/>
                </a:solidFill>
              </a:defRPr>
            </a:pPr>
            <a:r>
              <a:rPr sz="1800" b="0">
                <a:solidFill>
                  <a:srgbClr val="191713"/>
                </a:solidFill>
              </a:rPr>
              <a:t>Duplicated activities</a:t>
            </a:r>
          </a:p>
          <a:p xmlns:a="http://schemas.openxmlformats.org/drawingml/2006/main">
            <a:pPr>
              <a:defRPr sz="1800" b="0">
                <a:solidFill>
                  <a:srgbClr val="191713"/>
                </a:solidFill>
              </a:defRPr>
            </a:pPr>
            <a:r>
              <a:rPr sz="1800" b="0">
                <a:solidFill>
                  <a:srgbClr val="191713"/>
                </a:solidFill>
              </a:rPr>
              <a:t>Manual handoffs</a:t>
            </a:r>
          </a:p>
          <a:p xmlns:a="http://schemas.openxmlformats.org/drawingml/2006/main">
            <a:pPr>
              <a:defRPr sz="1800" b="0">
                <a:solidFill>
                  <a:srgbClr val="191713"/>
                </a:solidFill>
              </a:defRPr>
            </a:pPr>
            <a:r>
              <a:rPr sz="1800" b="0">
                <a:solidFill>
                  <a:srgbClr val="191713"/>
                </a:solidFill>
              </a:rPr>
              <a:t>Undefined ownership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F944F-4979-4F35-8CD0-872AE0DA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6164F-9BB7-465C-86E7-0E5E9664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384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56F64"/>
                </a:solidFill>
              </a:defRPr>
            </a:pPr>
            <a:r>
              <a:rPr sz="1275" b="1">
                <a:solidFill>
                  <a:srgbClr val="756F64"/>
                </a:solidFill>
              </a:rPr>
              <a:t>Technology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CC0C4-CBD7-476D-90FA-DE3D1E16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19400"/>
            <a:ext cx="28003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1713"/>
                </a:solidFill>
              </a:defRPr>
            </a:pPr>
            <a:r>
              <a:rPr sz="1800" b="0">
                <a:solidFill>
                  <a:srgbClr val="191713"/>
                </a:solidFill>
              </a:rPr>
              <a:t>Systems lacked integration</a:t>
            </a:r>
          </a:p>
          <a:p xmlns:a="http://schemas.openxmlformats.org/drawingml/2006/main">
            <a:pPr>
              <a:defRPr sz="1800" b="0">
                <a:solidFill>
                  <a:srgbClr val="191713"/>
                </a:solidFill>
              </a:defRPr>
            </a:pPr>
            <a:r>
              <a:rPr sz="1800" b="0">
                <a:solidFill>
                  <a:srgbClr val="191713"/>
                </a:solidFill>
              </a:rPr>
              <a:t>Data was not shared</a:t>
            </a:r>
          </a:p>
          <a:p xmlns:a="http://schemas.openxmlformats.org/drawingml/2006/main">
            <a:pPr>
              <a:defRPr sz="1800" b="0">
                <a:solidFill>
                  <a:srgbClr val="191713"/>
                </a:solidFill>
              </a:defRPr>
            </a:pPr>
            <a:r>
              <a:rPr sz="1800" b="0">
                <a:solidFill>
                  <a:srgbClr val="191713"/>
                </a:solidFill>
              </a:rPr>
              <a:t>Customer status was hard to determine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96F8B-1F44-4E80-8958-22A6A7B7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55F3D-BF97-4C43-A28F-574D3647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384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56F64"/>
                </a:solidFill>
              </a:defRPr>
            </a:pPr>
            <a:r>
              <a:rPr sz="1275" b="1">
                <a:solidFill>
                  <a:srgbClr val="756F64"/>
                </a:solidFill>
              </a:rPr>
              <a:t>Customer experience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59A8B-7929-41DC-9242-C0A05D08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19400"/>
            <a:ext cx="28003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1713"/>
                </a:solidFill>
              </a:defRPr>
            </a:pPr>
            <a:r>
              <a:rPr sz="1800" b="0">
                <a:solidFill>
                  <a:srgbClr val="191713"/>
                </a:solidFill>
              </a:rPr>
              <a:t>Long periods without communication</a:t>
            </a:r>
          </a:p>
          <a:p xmlns:a="http://schemas.openxmlformats.org/drawingml/2006/main">
            <a:pPr>
              <a:defRPr sz="1800" b="0">
                <a:solidFill>
                  <a:srgbClr val="191713"/>
                </a:solidFill>
              </a:defRPr>
            </a:pPr>
            <a:r>
              <a:rPr sz="1800" b="0">
                <a:solidFill>
                  <a:srgbClr val="191713"/>
                </a:solidFill>
              </a:rPr>
              <a:t>Multiple entry points</a:t>
            </a:r>
          </a:p>
          <a:p xmlns:a="http://schemas.openxmlformats.org/drawingml/2006/main">
            <a:pPr>
              <a:defRPr sz="1800" b="0">
                <a:solidFill>
                  <a:srgbClr val="191713"/>
                </a:solidFill>
              </a:defRPr>
            </a:pPr>
            <a:r>
              <a:rPr sz="1800" b="0">
                <a:solidFill>
                  <a:srgbClr val="191713"/>
                </a:solidFill>
              </a:rPr>
              <a:t>Inconsistent expectations</a:t>
            </a:r>
          </a:p>
        </p:txBody>
      </p:sp>
    </p:spTree>
    <p:extLst>
      <p:ext uri="{BB962C8B-B14F-4D97-AF65-F5344CB8AC3E}">
        <p14:creationId xmlns:p14="http://schemas.microsoft.com/office/powerpoint/2010/main" val="17837165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246C88-425D-4770-9616-0CEC8F48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91713"/>
                </a:solidFill>
              </a:defRPr>
            </a:pPr>
            <a:r>
              <a:rPr sz="3300" b="0">
                <a:solidFill>
                  <a:srgbClr val="191713"/>
                </a:solidFill>
              </a:rPr>
              <a:t>The work gave the organization a foundation for service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5F3EA-F99B-4CF5-90CB-539AA590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56F64"/>
                </a:solidFill>
              </a:defRPr>
            </a:pPr>
            <a:r>
              <a:rPr sz="1500" b="0">
                <a:solidFill>
                  <a:srgbClr val="756F64"/>
                </a:solidFill>
              </a:rPr>
              <a:t>Even without a single product release metric, the service blueprint created practical alignment and exposed where improvements should start.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A1E95-ADCB-4693-8EE9-91DE2B6C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DDDF5-5814-4AB6-80CD-9769F3E9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Carbon Program Service Blueprint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DBC16-B875-481C-98F2-3419B92F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CFD07-BF50-4870-B4BB-D5AAC8D1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52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9E65A-3000-4049-BA87-575BD07E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1713"/>
                </a:solidFill>
              </a:defRPr>
            </a:pPr>
            <a:r>
              <a:rPr sz="1725" b="0">
                <a:solidFill>
                  <a:srgbClr val="191713"/>
                </a:solidFill>
              </a:rPr>
              <a:t>Created the organization's first end-to-end service blueprint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2EC2B-B74B-4664-BE92-96067E64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CF198-19BF-4CD3-892B-0C95C34A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33650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1713"/>
                </a:solidFill>
              </a:defRPr>
            </a:pPr>
            <a:r>
              <a:rPr sz="1725" b="0">
                <a:solidFill>
                  <a:srgbClr val="191713"/>
                </a:solidFill>
              </a:rPr>
              <a:t>Aligned business units around one shared customer journey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72B61-966A-4B69-B41A-5F3976FF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C1829-0FC2-4AAB-81D3-997BB834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90850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1713"/>
                </a:solidFill>
              </a:defRPr>
            </a:pPr>
            <a:r>
              <a:rPr sz="1725" b="0">
                <a:solidFill>
                  <a:srgbClr val="191713"/>
                </a:solidFill>
              </a:rPr>
              <a:t>Revealed duplicated operational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76DFD-28CF-40BD-8146-59FE89B7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6D65F-4B15-4449-89D5-A2A45FF5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48050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1713"/>
                </a:solidFill>
              </a:defRPr>
            </a:pPr>
            <a:r>
              <a:rPr sz="1725" b="0">
                <a:solidFill>
                  <a:srgbClr val="191713"/>
                </a:solidFill>
              </a:rPr>
              <a:t>Identified automation opportunities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C21CA-4F28-4193-AA23-AB4986AE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D61B94-9CBA-40B7-9327-BA9F55C7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05250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1713"/>
                </a:solidFill>
              </a:defRPr>
            </a:pPr>
            <a:r>
              <a:rPr sz="1725" b="0">
                <a:solidFill>
                  <a:srgbClr val="191713"/>
                </a:solidFill>
              </a:rPr>
              <a:t>Improved visibility into cross-functional dependencies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4EB72D-6B44-47FF-82E6-0B60C254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38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A31B6-3FAF-45BA-8493-191C9305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62450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91713"/>
                </a:solidFill>
              </a:defRPr>
            </a:pPr>
            <a:r>
              <a:rPr sz="1725" b="0">
                <a:solidFill>
                  <a:srgbClr val="191713"/>
                </a:solidFill>
              </a:rPr>
              <a:t>Established a foundation for future service improvements</a:t>
            </a:r>
          </a:p>
        </p:txBody>
      </p:sp>
    </p:spTree>
    <p:extLst>
      <p:ext uri="{BB962C8B-B14F-4D97-AF65-F5344CB8AC3E}">
        <p14:creationId xmlns:p14="http://schemas.microsoft.com/office/powerpoint/2010/main" val="7037170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A1F73E-D1E2-4ABE-AEED-C667EBF6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64F2B"/>
                </a:solidFill>
              </a:defRPr>
            </a:pPr>
            <a:r>
              <a:rPr sz="1800" b="1">
                <a:solidFill>
                  <a:srgbClr val="A64F2B"/>
                </a:solidFill>
              </a:rPr>
              <a:t>Portfolio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324E4-82EE-4207-856A-FF0B174F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91713"/>
                </a:solidFill>
              </a:defRPr>
            </a:pPr>
            <a:r>
              <a:rPr sz="3525" b="1">
                <a:solidFill>
                  <a:srgbClr val="191713"/>
                </a:solidFill>
              </a:rPr>
              <a:t>This was not only a map of a service. It was a shared operating model for teams that had been optimizing separate pieces of one customer journey.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CF3AB-67C8-4D96-A4E2-EBD75017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56F64"/>
                </a:solidFill>
              </a:defRPr>
            </a:pPr>
            <a:r>
              <a:rPr sz="1800" b="0">
                <a:solidFill>
                  <a:srgbClr val="756F64"/>
                </a:solidFill>
              </a:rPr>
              <a:t>The case study demonstrates service design, systems thinking, research synthesis, facilitation, and the ability to make enterprise complexity usable.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71064-04D7-4E00-BE25-4DD7183A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8953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4D4"/>
          </a:solidFill>
          <a:ln xmlns:a="http://schemas.openxmlformats.org/drawingml/2006/main" w="9525">
            <a:solidFill>
              <a:srgbClr val="A64F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6FF33-1A4B-4641-9C09-2EED4086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162050"/>
            <a:ext cx="1066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A64F2B"/>
                </a:solidFill>
              </a:defRPr>
            </a:pPr>
            <a:r>
              <a:rPr sz="4650" b="1">
                <a:solidFill>
                  <a:srgbClr val="A64F2B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BB351-F17A-4263-8FB1-37C6AF99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240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64F2B"/>
                </a:solidFill>
              </a:defRPr>
            </a:pPr>
            <a:r>
              <a:rPr sz="1500" b="1">
                <a:solidFill>
                  <a:srgbClr val="A64F2B"/>
                </a:solidFill>
              </a:rPr>
              <a:t>slides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967E7-633D-48B6-AF67-6850D018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A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2119D-612F-4526-A282-AA7E804D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Carbon Program Service Blueprint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B9BE8-9EF8-484C-870B-F88CE9DC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56F64"/>
                </a:solidFill>
              </a:defRPr>
            </a:pPr>
            <a:r>
              <a:rPr sz="975" b="1">
                <a:solidFill>
                  <a:srgbClr val="756F64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916345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2026-07-13T19:52:57.6430000Z</dcterms:created>
  <dcterms:modified xsi:type="dcterms:W3CDTF">2026-07-13T19:52:57.6430000Z</dcterms:modified>
</coreProperties>
</file>